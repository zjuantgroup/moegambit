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e84f5cf024bc3" /><Relationship Type="http://schemas.openxmlformats.org/officeDocument/2006/relationships/extended-properties" Target="/docProps/app.xml" Id="R3bac368f1b1d4ba8" /><Relationship Type="http://schemas.openxmlformats.org/officeDocument/2006/relationships/officeDocument" Target="/ppt/presentation.xml" Id="R29b6c5f1bde246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35ad1606d549de"/>
  </p:sldMasterIdLst>
  <p:notesMasterIdLst>
    <p:notesMasterId xmlns:r="http://schemas.openxmlformats.org/officeDocument/2006/relationships" r:id="R535ba199a6834a56"/>
  </p:notesMasterIdLst>
  <p:sldIdLst>
    <p:sldId xmlns:r="http://schemas.openxmlformats.org/officeDocument/2006/relationships" id="256" r:id="R32277fe47e0d41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fad9508cd34372" /><Relationship Type="http://schemas.openxmlformats.org/officeDocument/2006/relationships/slideMaster" Target="/ppt/slideMasters/slideMaster1.xml" Id="R2435ad1606d549de" /><Relationship Type="http://schemas.openxmlformats.org/officeDocument/2006/relationships/notesMaster" Target="/ppt/notesMasters/notesMaster1.xml" Id="R535ba199a6834a56" /><Relationship Type="http://schemas.openxmlformats.org/officeDocument/2006/relationships/presProps" Target="/ppt/presProps.xml" Id="Rf59098b4162a4303" /><Relationship Type="http://schemas.openxmlformats.org/officeDocument/2006/relationships/viewProps" Target="/ppt/viewProps.xml" Id="R9f3962c44a884f5d" /><Relationship Type="http://schemas.openxmlformats.org/officeDocument/2006/relationships/tableStyles" Target="/ppt/tableStyles.xml" Id="Rf6fce79ddb2b444f" /><Relationship Type="http://schemas.openxmlformats.org/officeDocument/2006/relationships/slide" Target="/ppt/slides/slide1.xml" Id="R32277fe47e0d41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84d094dea94a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878215e2c24d96" /><Relationship Type="http://schemas.openxmlformats.org/officeDocument/2006/relationships/notesMaster" Target="/ppt/notesMasters/notesMaster1.xml" Id="Rb24b31537dd24d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e33f30a894a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89d30772e24547" /><Relationship Type="http://schemas.openxmlformats.org/officeDocument/2006/relationships/slideLayout" Target="/ppt/slideLayouts/slideLayout1.xml" Id="R2fc25a93a4274c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c25a93a4274c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af84f79a34a27" /><Relationship Type="http://schemas.openxmlformats.org/officeDocument/2006/relationships/notesSlide" Target="/ppt/notesSlides/notesSlide1.xml" Id="Rf1fa745f3a7549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2789E79-D3B7-49CE-B38D-234FBB00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EED32107-63DC-48E2-9C57-84B916AD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0">
            <a:solidFill>
              <a:srgbClr val="315D9B"/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DF7F27E2-619B-46DC-A932-89342B2E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ICSE ARCHITECTURE FIGURE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6F9BA3E-42B5-404C-B952-6B4AB49F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B"/>
                </a:solidFill>
                <a:latin typeface="Aptos Display"/>
                <a:ea typeface="Aptos Display"/>
                <a:cs typeface="Aptos Display"/>
              </a:rPr>
              <a:t>MoEGambit repairs failed MoE ranks under a runtime contract</a:t>
            </a:r>
          </a:p>
        </p:txBody>
      </p:sp>
      <p:sp>
        <p:nvSpPr>
          <p:cNvPr id="5" name="claim-subtitle">
            <a:extLst xmlns:a="http://schemas.openxmlformats.org/drawingml/2006/main">
              <a:ext uri="{FF2B5EF4-FFF2-40B4-BE49-F238E27FC236}">
                <a16:creationId xmlns:a16="http://schemas.microsoft.com/office/drawing/2014/main" id="{D659FAE4-C1C1-426B-A4AA-7DC1795C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752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Dense/router state is refreshed from peers; only rank-local experts come from checkpoint shards.</a:t>
            </a:r>
          </a:p>
        </p:txBody>
      </p:sp>
      <p:sp>
        <p:nvSpPr>
          <p:cNvPr id="6" name="control-plane-tag">
            <a:extLst xmlns:a="http://schemas.openxmlformats.org/drawingml/2006/main">
              <a:ext uri="{FF2B5EF4-FFF2-40B4-BE49-F238E27FC236}">
                <a16:creationId xmlns:a16="http://schemas.microsoft.com/office/drawing/2014/main" id="{7AE02D78-E4EF-4816-B5E9-42E14305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7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15D9B"/>
            </a:solidFill>
            <a:prstDash val="solid"/>
          </a:ln>
        </p:spPr>
      </p:sp>
      <p:sp>
        <p:nvSpPr>
          <p:cNvPr id="7" name="control-plane-tag-text">
            <a:extLst xmlns:a="http://schemas.openxmlformats.org/drawingml/2006/main">
              <a:ext uri="{FF2B5EF4-FFF2-40B4-BE49-F238E27FC236}">
                <a16:creationId xmlns:a16="http://schemas.microsoft.com/office/drawing/2014/main" id="{A7CA24A5-57B5-48C5-9E01-906A318A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CONTROL PLANE</a:t>
            </a:r>
          </a:p>
        </p:txBody>
      </p:sp>
      <p:sp>
        <p:nvSpPr>
          <p:cNvPr id="8" name="control-plane-note">
            <a:extLst xmlns:a="http://schemas.openxmlformats.org/drawingml/2006/main">
              <a:ext uri="{FF2B5EF4-FFF2-40B4-BE49-F238E27FC236}">
                <a16:creationId xmlns:a16="http://schemas.microsoft.com/office/drawing/2014/main" id="{537F9949-2CEE-427B-8215-82262121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7810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R1 safe point  |  R2 staleness guard  |  R3 audit trail</a:t>
            </a:r>
          </a:p>
        </p:txBody>
      </p:sp>
      <p:sp>
        <p:nvSpPr>
          <p:cNvPr id="9" name="failure-card">
            <a:extLst xmlns:a="http://schemas.openxmlformats.org/drawingml/2006/main">
              <a:ext uri="{FF2B5EF4-FFF2-40B4-BE49-F238E27FC236}">
                <a16:creationId xmlns:a16="http://schemas.microsoft.com/office/drawing/2014/main" id="{52BB1482-98DA-45D9-A113-F18CDA86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B"/>
          </a:solidFill>
          <a:ln xmlns:a="http://schemas.openxmlformats.org/drawingml/2006/main" w="9525">
            <a:solidFill>
              <a:srgbClr val="B34B3D"/>
            </a:solidFill>
            <a:prstDash val="solid"/>
          </a:ln>
        </p:spPr>
      </p:sp>
      <p:sp>
        <p:nvSpPr>
          <p:cNvPr id="10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4E5F45F2-45FD-4055-9389-59F834B1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4B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34B3D"/>
                </a:solidFill>
                <a:latin typeface="Aptos"/>
                <a:ea typeface="Aptos"/>
                <a:cs typeface="Aptos"/>
              </a:rPr>
              <a:t>Failure event</a:t>
            </a:r>
          </a:p>
        </p:txBody>
      </p:sp>
      <p:sp>
        <p:nvSpPr>
          <p:cNvPr id="11" name="failed-rank-label">
            <a:extLst xmlns:a="http://schemas.openxmlformats.org/drawingml/2006/main">
              <a:ext uri="{FF2B5EF4-FFF2-40B4-BE49-F238E27FC236}">
                <a16:creationId xmlns:a16="http://schemas.microsoft.com/office/drawing/2014/main" id="{12DF8FF4-2E74-4D2F-A4BD-F09551E8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B"/>
                </a:solidFill>
                <a:latin typeface="Aptos"/>
                <a:ea typeface="Aptos"/>
                <a:cs typeface="Aptos"/>
              </a:rPr>
              <a:t>failed rank r</a:t>
            </a:r>
          </a:p>
        </p:txBody>
      </p:sp>
      <p:sp>
        <p:nvSpPr>
          <p:cNvPr id="12" name="step-t-label">
            <a:extLst xmlns:a="http://schemas.openxmlformats.org/drawingml/2006/main">
              <a:ext uri="{FF2B5EF4-FFF2-40B4-BE49-F238E27FC236}">
                <a16:creationId xmlns:a16="http://schemas.microsoft.com/office/drawing/2014/main" id="{F98CD2D5-4CED-4CB0-A32E-D8506761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detected at step t</a:t>
            </a:r>
          </a:p>
        </p:txBody>
      </p:sp>
      <p:sp>
        <p:nvSpPr>
          <p:cNvPr id="13" name="step-c-label">
            <a:extLst xmlns:a="http://schemas.openxmlformats.org/drawingml/2006/main">
              <a:ext uri="{FF2B5EF4-FFF2-40B4-BE49-F238E27FC236}">
                <a16:creationId xmlns:a16="http://schemas.microsoft.com/office/drawing/2014/main" id="{56A5BA57-2CC4-4B7B-A8BB-18261663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latest checkpoint c</a:t>
            </a:r>
          </a:p>
        </p:txBody>
      </p:sp>
      <p:sp>
        <p:nvSpPr>
          <p:cNvPr id="14" name="failed-rank-chip">
            <a:extLst xmlns:a="http://schemas.openxmlformats.org/drawingml/2006/main">
              <a:ext uri="{FF2B5EF4-FFF2-40B4-BE49-F238E27FC236}">
                <a16:creationId xmlns:a16="http://schemas.microsoft.com/office/drawing/2014/main" id="{DAB4F3F2-EB85-4697-B44B-8C150C40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09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4B3D"/>
            </a:solidFill>
            <a:prstDash val="solid"/>
          </a:ln>
        </p:spPr>
      </p:sp>
      <p:sp>
        <p:nvSpPr>
          <p:cNvPr id="15" name="failed-rank-x">
            <a:extLst xmlns:a="http://schemas.openxmlformats.org/drawingml/2006/main">
              <a:ext uri="{FF2B5EF4-FFF2-40B4-BE49-F238E27FC236}">
                <a16:creationId xmlns:a16="http://schemas.microsoft.com/office/drawing/2014/main" id="{C83E419E-172A-4A33-B4D8-0BC862B3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669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34B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34B3D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6" name="state-card">
            <a:extLst xmlns:a="http://schemas.openxmlformats.org/drawingml/2006/main">
              <a:ext uri="{FF2B5EF4-FFF2-40B4-BE49-F238E27FC236}">
                <a16:creationId xmlns:a16="http://schemas.microsoft.com/office/drawing/2014/main" id="{B542D571-B033-4DA1-84DD-F2B389E5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9900"/>
            <a:ext cx="2095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state-title">
            <a:extLst xmlns:a="http://schemas.openxmlformats.org/drawingml/2006/main">
              <a:ext uri="{FF2B5EF4-FFF2-40B4-BE49-F238E27FC236}">
                <a16:creationId xmlns:a16="http://schemas.microsoft.com/office/drawing/2014/main" id="{DC2661E8-9B4B-479C-88CD-BCF30CAA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B"/>
                </a:solidFill>
                <a:latin typeface="Aptos"/>
                <a:ea typeface="Aptos"/>
                <a:cs typeface="Aptos"/>
              </a:rPr>
              <a:t>State provenance</a:t>
            </a:r>
          </a:p>
        </p:txBody>
      </p:sp>
      <p:sp>
        <p:nvSpPr>
          <p:cNvPr id="18" name="fresh-tag">
            <a:extLst xmlns:a="http://schemas.openxmlformats.org/drawingml/2006/main">
              <a:ext uri="{FF2B5EF4-FFF2-40B4-BE49-F238E27FC236}">
                <a16:creationId xmlns:a16="http://schemas.microsoft.com/office/drawing/2014/main" id="{4688E3A0-2307-44E3-9866-2507FF7B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15D9B"/>
            </a:solidFill>
            <a:prstDash val="solid"/>
          </a:ln>
        </p:spPr>
      </p:sp>
      <p:sp>
        <p:nvSpPr>
          <p:cNvPr id="19" name="fresh-tag-text">
            <a:extLst xmlns:a="http://schemas.openxmlformats.org/drawingml/2006/main">
              <a:ext uri="{FF2B5EF4-FFF2-40B4-BE49-F238E27FC236}">
                <a16:creationId xmlns:a16="http://schemas.microsoft.com/office/drawing/2014/main" id="{9B3406AF-F7BD-45B7-B637-2196A162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fresh at step t</a:t>
            </a:r>
          </a:p>
        </p:txBody>
      </p:sp>
      <p:sp>
        <p:nvSpPr>
          <p:cNvPr id="20" name="dense-router-label">
            <a:extLst xmlns:a="http://schemas.openxmlformats.org/drawingml/2006/main">
              <a:ext uri="{FF2B5EF4-FFF2-40B4-BE49-F238E27FC236}">
                <a16:creationId xmlns:a16="http://schemas.microsoft.com/office/drawing/2014/main" id="{DC6782F7-9FC1-4993-800D-6C39A04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B"/>
                </a:solidFill>
                <a:latin typeface="Aptos"/>
                <a:ea typeface="Aptos"/>
                <a:cs typeface="Aptos"/>
              </a:rPr>
              <a:t>dense + router</a:t>
            </a:r>
          </a:p>
        </p:txBody>
      </p:sp>
      <p:sp>
        <p:nvSpPr>
          <p:cNvPr id="21" name="dp-replicated-label">
            <a:extLst xmlns:a="http://schemas.openxmlformats.org/drawingml/2006/main">
              <a:ext uri="{FF2B5EF4-FFF2-40B4-BE49-F238E27FC236}">
                <a16:creationId xmlns:a16="http://schemas.microsoft.com/office/drawing/2014/main" id="{BA55A8CB-C415-4027-9001-E45F272A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DP replicated</a:t>
            </a:r>
          </a:p>
        </p:txBody>
      </p:sp>
      <p:sp>
        <p:nvSpPr>
          <p:cNvPr id="22" name="dp-dot-0">
            <a:extLst xmlns:a="http://schemas.openxmlformats.org/drawingml/2006/main">
              <a:ext uri="{FF2B5EF4-FFF2-40B4-BE49-F238E27FC236}">
                <a16:creationId xmlns:a16="http://schemas.microsoft.com/office/drawing/2014/main" id="{4DA7EE21-101B-461E-843A-EE01898A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90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dp-dot-1">
            <a:extLst xmlns:a="http://schemas.openxmlformats.org/drawingml/2006/main">
              <a:ext uri="{FF2B5EF4-FFF2-40B4-BE49-F238E27FC236}">
                <a16:creationId xmlns:a16="http://schemas.microsoft.com/office/drawing/2014/main" id="{82FE0891-E205-4E89-93B0-BC9F3C31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90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dp-dot-2">
            <a:extLst xmlns:a="http://schemas.openxmlformats.org/drawingml/2006/main">
              <a:ext uri="{FF2B5EF4-FFF2-40B4-BE49-F238E27FC236}">
                <a16:creationId xmlns:a16="http://schemas.microsoft.com/office/drawing/2014/main" id="{1E673A06-AABA-4C6A-81C6-2A27C4CD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dp-dot-3">
            <a:extLst xmlns:a="http://schemas.openxmlformats.org/drawingml/2006/main">
              <a:ext uri="{FF2B5EF4-FFF2-40B4-BE49-F238E27FC236}">
                <a16:creationId xmlns:a16="http://schemas.microsoft.com/office/drawing/2014/main" id="{47D0AFDD-8602-4839-91A6-AD19E5C5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52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dp-dot-4">
            <a:extLst xmlns:a="http://schemas.openxmlformats.org/drawingml/2006/main">
              <a:ext uri="{FF2B5EF4-FFF2-40B4-BE49-F238E27FC236}">
                <a16:creationId xmlns:a16="http://schemas.microsoft.com/office/drawing/2014/main" id="{08D12CE2-B855-4ED4-BEF7-BBBE7E96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52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dp-dot-5">
            <a:extLst xmlns:a="http://schemas.openxmlformats.org/drawingml/2006/main">
              <a:ext uri="{FF2B5EF4-FFF2-40B4-BE49-F238E27FC236}">
                <a16:creationId xmlns:a16="http://schemas.microsoft.com/office/drawing/2014/main" id="{3FC33F79-79DA-40BF-B877-67E8EB66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52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stale-tag">
            <a:extLst xmlns:a="http://schemas.openxmlformats.org/drawingml/2006/main">
              <a:ext uri="{FF2B5EF4-FFF2-40B4-BE49-F238E27FC236}">
                <a16:creationId xmlns:a16="http://schemas.microsoft.com/office/drawing/2014/main" id="{D2A9DE29-0BEF-4512-B1BA-5A34BAE2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9525">
            <a:solidFill>
              <a:srgbClr val="7257A7"/>
            </a:solidFill>
            <a:prstDash val="solid"/>
          </a:ln>
        </p:spPr>
      </p:sp>
      <p:sp>
        <p:nvSpPr>
          <p:cNvPr id="29" name="stale-tag-text">
            <a:extLst xmlns:a="http://schemas.openxmlformats.org/drawingml/2006/main">
              <a:ext uri="{FF2B5EF4-FFF2-40B4-BE49-F238E27FC236}">
                <a16:creationId xmlns:a16="http://schemas.microsoft.com/office/drawing/2014/main" id="{478E5666-6F47-48F2-A4B0-4AE28584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257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257A7"/>
                </a:solidFill>
                <a:latin typeface="Aptos"/>
                <a:ea typeface="Aptos"/>
                <a:cs typeface="Aptos"/>
              </a:rPr>
              <a:t>stale by Delta</a:t>
            </a:r>
          </a:p>
        </p:txBody>
      </p:sp>
      <p:sp>
        <p:nvSpPr>
          <p:cNvPr id="30" name="expert-shard-label">
            <a:extLst xmlns:a="http://schemas.openxmlformats.org/drawingml/2006/main">
              <a:ext uri="{FF2B5EF4-FFF2-40B4-BE49-F238E27FC236}">
                <a16:creationId xmlns:a16="http://schemas.microsoft.com/office/drawing/2014/main" id="{0AB79383-F701-488E-8C10-66368A0C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B"/>
                </a:solidFill>
                <a:latin typeface="Aptos"/>
                <a:ea typeface="Aptos"/>
                <a:cs typeface="Aptos"/>
              </a:rPr>
              <a:t>expert shard</a:t>
            </a:r>
          </a:p>
        </p:txBody>
      </p:sp>
      <p:sp>
        <p:nvSpPr>
          <p:cNvPr id="31" name="ep-unique-label">
            <a:extLst xmlns:a="http://schemas.openxmlformats.org/drawingml/2006/main">
              <a:ext uri="{FF2B5EF4-FFF2-40B4-BE49-F238E27FC236}">
                <a16:creationId xmlns:a16="http://schemas.microsoft.com/office/drawing/2014/main" id="{7958E6B2-66EA-4B7C-9CB0-54CA96E0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EP unique</a:t>
            </a:r>
          </a:p>
        </p:txBody>
      </p:sp>
      <p:sp>
        <p:nvSpPr>
          <p:cNvPr id="32" name="ep-dot-0">
            <a:extLst xmlns:a="http://schemas.openxmlformats.org/drawingml/2006/main">
              <a:ext uri="{FF2B5EF4-FFF2-40B4-BE49-F238E27FC236}">
                <a16:creationId xmlns:a16="http://schemas.microsoft.com/office/drawing/2014/main" id="{E2F1133B-6FD7-4D42-9D9C-BDF7AE4B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ep-dot-1">
            <a:extLst xmlns:a="http://schemas.openxmlformats.org/drawingml/2006/main">
              <a:ext uri="{FF2B5EF4-FFF2-40B4-BE49-F238E27FC236}">
                <a16:creationId xmlns:a16="http://schemas.microsoft.com/office/drawing/2014/main" id="{074CD90C-F446-4A92-B257-EB44416C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ep-dot-2">
            <a:extLst xmlns:a="http://schemas.openxmlformats.org/drawingml/2006/main">
              <a:ext uri="{FF2B5EF4-FFF2-40B4-BE49-F238E27FC236}">
                <a16:creationId xmlns:a16="http://schemas.microsoft.com/office/drawing/2014/main" id="{83D6994B-9941-48DE-9280-8FD75399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ep-dot-3">
            <a:extLst xmlns:a="http://schemas.openxmlformats.org/drawingml/2006/main">
              <a:ext uri="{FF2B5EF4-FFF2-40B4-BE49-F238E27FC236}">
                <a16:creationId xmlns:a16="http://schemas.microsoft.com/office/drawing/2014/main" id="{03580C4D-CECA-4CE7-975B-0A392EA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ep-dot-4">
            <a:extLst xmlns:a="http://schemas.openxmlformats.org/drawingml/2006/main">
              <a:ext uri="{FF2B5EF4-FFF2-40B4-BE49-F238E27FC236}">
                <a16:creationId xmlns:a16="http://schemas.microsoft.com/office/drawing/2014/main" id="{C3ADEA7A-4DD0-4B85-9212-F0423259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ep-dot-5">
            <a:extLst xmlns:a="http://schemas.openxmlformats.org/drawingml/2006/main">
              <a:ext uri="{FF2B5EF4-FFF2-40B4-BE49-F238E27FC236}">
                <a16:creationId xmlns:a16="http://schemas.microsoft.com/office/drawing/2014/main" id="{B7C3B5FD-C1D7-4AF1-A02F-8A997804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failure-to-contract-line">
            <a:extLst xmlns:a="http://schemas.openxmlformats.org/drawingml/2006/main">
              <a:ext uri="{FF2B5EF4-FFF2-40B4-BE49-F238E27FC236}">
                <a16:creationId xmlns:a16="http://schemas.microsoft.com/office/drawing/2014/main" id="{985CF906-8FB7-4B93-8E0E-15128CB1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47925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0">
            <a:solidFill>
              <a:srgbClr val="315D9B"/>
            </a:solidFill>
            <a:prstDash val="solid"/>
          </a:ln>
        </p:spPr>
      </p:sp>
      <p:sp>
        <p:nvSpPr>
          <p:cNvPr id="39" name="failure-to-contract-head">
            <a:extLst xmlns:a="http://schemas.openxmlformats.org/drawingml/2006/main">
              <a:ext uri="{FF2B5EF4-FFF2-40B4-BE49-F238E27FC236}">
                <a16:creationId xmlns:a16="http://schemas.microsoft.com/office/drawing/2014/main" id="{E85ED2F1-497C-4BE1-B74A-10017EDB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431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contract-layer">
            <a:extLst xmlns:a="http://schemas.openxmlformats.org/drawingml/2006/main">
              <a:ext uri="{FF2B5EF4-FFF2-40B4-BE49-F238E27FC236}">
                <a16:creationId xmlns:a16="http://schemas.microsoft.com/office/drawing/2014/main" id="{18166799-5EBC-4D34-A4C8-192BA4FF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352550"/>
            <a:ext cx="2952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D9B"/>
            </a:solidFill>
            <a:prstDash val="solid"/>
          </a:ln>
        </p:spPr>
      </p:sp>
      <p:sp>
        <p:nvSpPr>
          <p:cNvPr id="41" name="contract-title">
            <a:extLst xmlns:a="http://schemas.openxmlformats.org/drawingml/2006/main">
              <a:ext uri="{FF2B5EF4-FFF2-40B4-BE49-F238E27FC236}">
                <a16:creationId xmlns:a16="http://schemas.microsoft.com/office/drawing/2014/main" id="{A56BBEA3-81DA-45EB-90A8-A7ECAE55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24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Runtime recovery contract</a:t>
            </a:r>
          </a:p>
        </p:txBody>
      </p:sp>
      <p:sp>
        <p:nvSpPr>
          <p:cNvPr id="42" name="contract-subtitle">
            <a:extLst xmlns:a="http://schemas.openxmlformats.org/drawingml/2006/main">
              <a:ext uri="{FF2B5EF4-FFF2-40B4-BE49-F238E27FC236}">
                <a16:creationId xmlns:a16="http://schemas.microsoft.com/office/drawing/2014/main" id="{B8042B6D-DE7A-44B2-A8BF-F0C99053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907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Decides when hybrid repair is allowed.</a:t>
            </a:r>
          </a:p>
        </p:txBody>
      </p:sp>
      <p:sp>
        <p:nvSpPr>
          <p:cNvPr id="43" name="r1-card">
            <a:extLst xmlns:a="http://schemas.openxmlformats.org/drawingml/2006/main">
              <a:ext uri="{FF2B5EF4-FFF2-40B4-BE49-F238E27FC236}">
                <a16:creationId xmlns:a16="http://schemas.microsoft.com/office/drawing/2014/main" id="{58B827A6-DEA3-41A2-AAC7-758C79F6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5265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15D9B"/>
            </a:solidFill>
            <a:prstDash val="solid"/>
          </a:ln>
        </p:spPr>
      </p:sp>
      <p:sp>
        <p:nvSpPr>
          <p:cNvPr id="44" name="r1-title">
            <a:extLst xmlns:a="http://schemas.openxmlformats.org/drawingml/2006/main">
              <a:ext uri="{FF2B5EF4-FFF2-40B4-BE49-F238E27FC236}">
                <a16:creationId xmlns:a16="http://schemas.microsoft.com/office/drawing/2014/main" id="{824D2080-0FE1-45D9-AC78-8784A5A4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038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R1  Safe-point repair</a:t>
            </a:r>
          </a:p>
        </p:txBody>
      </p:sp>
      <p:sp>
        <p:nvSpPr>
          <p:cNvPr id="45" name="r1-note">
            <a:extLst xmlns:a="http://schemas.openxmlformats.org/drawingml/2006/main">
              <a:ext uri="{FF2B5EF4-FFF2-40B4-BE49-F238E27FC236}">
                <a16:creationId xmlns:a16="http://schemas.microsoft.com/office/drawing/2014/main" id="{F84DE2B3-C3D0-4707-B2F6-433D7D16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block partial optimizer commits</a:t>
            </a:r>
          </a:p>
        </p:txBody>
      </p:sp>
      <p:sp>
        <p:nvSpPr>
          <p:cNvPr id="46" name="r1-to-r2-line">
            <a:extLst xmlns:a="http://schemas.openxmlformats.org/drawingml/2006/main">
              <a:ext uri="{FF2B5EF4-FFF2-40B4-BE49-F238E27FC236}">
                <a16:creationId xmlns:a16="http://schemas.microsoft.com/office/drawing/2014/main" id="{626F3423-F45B-4BC6-A8B8-0E69DB0C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0">
            <a:solidFill>
              <a:srgbClr val="315D9B"/>
            </a:solidFill>
            <a:prstDash val="solid"/>
          </a:ln>
        </p:spPr>
      </p:sp>
      <p:sp>
        <p:nvSpPr>
          <p:cNvPr id="47" name="r1-to-r2-head">
            <a:extLst xmlns:a="http://schemas.openxmlformats.org/drawingml/2006/main">
              <a:ext uri="{FF2B5EF4-FFF2-40B4-BE49-F238E27FC236}">
                <a16:creationId xmlns:a16="http://schemas.microsoft.com/office/drawing/2014/main" id="{10B630BB-551C-454E-841E-6702A162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95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8" name="r2-card">
            <a:extLst xmlns:a="http://schemas.openxmlformats.org/drawingml/2006/main">
              <a:ext uri="{FF2B5EF4-FFF2-40B4-BE49-F238E27FC236}">
                <a16:creationId xmlns:a16="http://schemas.microsoft.com/office/drawing/2014/main" id="{2D43B4E4-4042-44AE-A307-57C76989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48000"/>
            <a:ext cx="2533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49" name="r2-title">
            <a:extLst xmlns:a="http://schemas.openxmlformats.org/drawingml/2006/main">
              <a:ext uri="{FF2B5EF4-FFF2-40B4-BE49-F238E27FC236}">
                <a16:creationId xmlns:a16="http://schemas.microsoft.com/office/drawing/2014/main" id="{11AFE01F-925A-4195-89A3-E77857F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62300"/>
            <a:ext cx="1809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R2  Staleness guard</a:t>
            </a:r>
          </a:p>
        </p:txBody>
      </p:sp>
      <p:sp>
        <p:nvSpPr>
          <p:cNvPr id="50" name="r2-formula">
            <a:extLst xmlns:a="http://schemas.openxmlformats.org/drawingml/2006/main">
              <a:ext uri="{FF2B5EF4-FFF2-40B4-BE49-F238E27FC236}">
                <a16:creationId xmlns:a16="http://schemas.microsoft.com/office/drawing/2014/main" id="{A21891DB-D1F6-4275-BA51-6BE9BBBA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81375"/>
            <a:ext cx="1714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B"/>
                </a:solidFill>
                <a:latin typeface="Aptos"/>
                <a:ea typeface="Aptos"/>
                <a:cs typeface="Aptos"/>
              </a:rPr>
              <a:t>Phi_prime(t) &lt;= Phi_max</a:t>
            </a:r>
          </a:p>
        </p:txBody>
      </p:sp>
      <p:sp>
        <p:nvSpPr>
          <p:cNvPr id="51" name="r2-note">
            <a:extLst xmlns:a="http://schemas.openxmlformats.org/drawingml/2006/main">
              <a:ext uri="{FF2B5EF4-FFF2-40B4-BE49-F238E27FC236}">
                <a16:creationId xmlns:a16="http://schemas.microsoft.com/office/drawing/2014/main" id="{ACA75741-D603-4C21-BA37-E7185C31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expert-weighted, window-level debt</a:t>
            </a:r>
          </a:p>
        </p:txBody>
      </p:sp>
      <p:sp>
        <p:nvSpPr>
          <p:cNvPr id="52" name="r2-to-r3-line">
            <a:extLst xmlns:a="http://schemas.openxmlformats.org/drawingml/2006/main">
              <a:ext uri="{FF2B5EF4-FFF2-40B4-BE49-F238E27FC236}">
                <a16:creationId xmlns:a16="http://schemas.microsoft.com/office/drawing/2014/main" id="{024B6E5E-4B57-4549-ADE3-456B6133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0">
            <a:solidFill>
              <a:srgbClr val="315D9B"/>
            </a:solidFill>
            <a:prstDash val="solid"/>
          </a:ln>
        </p:spPr>
      </p:sp>
      <p:sp>
        <p:nvSpPr>
          <p:cNvPr id="53" name="r2-to-r3-head">
            <a:extLst xmlns:a="http://schemas.openxmlformats.org/drawingml/2006/main">
              <a:ext uri="{FF2B5EF4-FFF2-40B4-BE49-F238E27FC236}">
                <a16:creationId xmlns:a16="http://schemas.microsoft.com/office/drawing/2014/main" id="{437BA5B0-FEED-4F5E-B66D-A4CCB199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24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54" name="r3-card">
            <a:extLst xmlns:a="http://schemas.openxmlformats.org/drawingml/2006/main">
              <a:ext uri="{FF2B5EF4-FFF2-40B4-BE49-F238E27FC236}">
                <a16:creationId xmlns:a16="http://schemas.microsoft.com/office/drawing/2014/main" id="{09B25125-56CE-4E56-A97A-CAB89895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76700"/>
            <a:ext cx="253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C88224"/>
            </a:solidFill>
            <a:prstDash val="solid"/>
          </a:ln>
        </p:spPr>
      </p:sp>
      <p:sp>
        <p:nvSpPr>
          <p:cNvPr id="55" name="r3-title">
            <a:extLst xmlns:a="http://schemas.openxmlformats.org/drawingml/2006/main">
              <a:ext uri="{FF2B5EF4-FFF2-40B4-BE49-F238E27FC236}">
                <a16:creationId xmlns:a16="http://schemas.microsoft.com/office/drawing/2014/main" id="{DE4646CF-6681-42FB-8860-C230629B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81475"/>
            <a:ext cx="1905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82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8224"/>
                </a:solidFill>
                <a:latin typeface="Aptos"/>
                <a:ea typeface="Aptos"/>
                <a:cs typeface="Aptos"/>
              </a:rPr>
              <a:t>R3  Reintegration log</a:t>
            </a:r>
          </a:p>
        </p:txBody>
      </p:sp>
      <p:sp>
        <p:nvSpPr>
          <p:cNvPr id="56" name="r3-note">
            <a:extLst xmlns:a="http://schemas.openxmlformats.org/drawingml/2006/main">
              <a:ext uri="{FF2B5EF4-FFF2-40B4-BE49-F238E27FC236}">
                <a16:creationId xmlns:a16="http://schemas.microsoft.com/office/drawing/2014/main" id="{7FBD9721-CE90-4844-9647-4A11D5CB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910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state trace + per-segment latency</a:t>
            </a:r>
          </a:p>
        </p:txBody>
      </p:sp>
      <p:sp>
        <p:nvSpPr>
          <p:cNvPr id="57" name="guards-pass-tag">
            <a:extLst xmlns:a="http://schemas.openxmlformats.org/drawingml/2006/main">
              <a:ext uri="{FF2B5EF4-FFF2-40B4-BE49-F238E27FC236}">
                <a16:creationId xmlns:a16="http://schemas.microsoft.com/office/drawing/2014/main" id="{69CAEB17-8B56-4D62-BF29-DC1B7DA9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815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58" name="guards-pass-tag-text">
            <a:extLst xmlns:a="http://schemas.openxmlformats.org/drawingml/2006/main">
              <a:ext uri="{FF2B5EF4-FFF2-40B4-BE49-F238E27FC236}">
                <a16:creationId xmlns:a16="http://schemas.microsoft.com/office/drawing/2014/main" id="{FFB2C8A1-13AA-491C-A749-35D47459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196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all guards pass</a:t>
            </a:r>
          </a:p>
        </p:txBody>
      </p:sp>
      <p:sp>
        <p:nvSpPr>
          <p:cNvPr id="59" name="contract-to-hybrid-line">
            <a:extLst xmlns:a="http://schemas.openxmlformats.org/drawingml/2006/main">
              <a:ext uri="{FF2B5EF4-FFF2-40B4-BE49-F238E27FC236}">
                <a16:creationId xmlns:a16="http://schemas.microsoft.com/office/drawing/2014/main" id="{B99C8FA8-29DC-4297-8732-7D329E43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146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60" name="contract-to-hybrid-head">
            <a:extLst xmlns:a="http://schemas.openxmlformats.org/drawingml/2006/main">
              <a:ext uri="{FF2B5EF4-FFF2-40B4-BE49-F238E27FC236}">
                <a16:creationId xmlns:a16="http://schemas.microsoft.com/office/drawing/2014/main" id="{F1368FFF-9740-43DD-90E7-02D1D322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1" name="contract-to-restart-line">
            <a:extLst xmlns:a="http://schemas.openxmlformats.org/drawingml/2006/main">
              <a:ext uri="{FF2B5EF4-FFF2-40B4-BE49-F238E27FC236}">
                <a16:creationId xmlns:a16="http://schemas.microsoft.com/office/drawing/2014/main" id="{82E89C9D-05E7-4DA1-873B-EC2F177A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291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3D"/>
          </a:solidFill>
          <a:ln xmlns:a="http://schemas.openxmlformats.org/drawingml/2006/main" w="0">
            <a:solidFill>
              <a:srgbClr val="B34B3D"/>
            </a:solidFill>
            <a:prstDash val="solid"/>
          </a:ln>
        </p:spPr>
      </p:sp>
      <p:sp>
        <p:nvSpPr>
          <p:cNvPr id="62" name="contract-to-restart-head">
            <a:extLst xmlns:a="http://schemas.openxmlformats.org/drawingml/2006/main">
              <a:ext uri="{FF2B5EF4-FFF2-40B4-BE49-F238E27FC236}">
                <a16:creationId xmlns:a16="http://schemas.microsoft.com/office/drawing/2014/main" id="{46122FEC-3C65-4673-8936-7D5C9C8B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244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34B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34B3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3" name="hybrid-panel">
            <a:extLst xmlns:a="http://schemas.openxmlformats.org/drawingml/2006/main">
              <a:ext uri="{FF2B5EF4-FFF2-40B4-BE49-F238E27FC236}">
                <a16:creationId xmlns:a16="http://schemas.microsoft.com/office/drawing/2014/main" id="{4503EF8B-DCBC-4A51-A9F6-72643AA6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19200"/>
            <a:ext cx="5391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64" name="hybrid-title">
            <a:extLst xmlns:a="http://schemas.openxmlformats.org/drawingml/2006/main">
              <a:ext uri="{FF2B5EF4-FFF2-40B4-BE49-F238E27FC236}">
                <a16:creationId xmlns:a16="http://schemas.microsoft.com/office/drawing/2014/main" id="{F1E0932F-92AD-4A54-964D-0A816160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09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Hybrid fast path</a:t>
            </a:r>
          </a:p>
        </p:txBody>
      </p:sp>
      <p:sp>
        <p:nvSpPr>
          <p:cNvPr id="65" name="hybrid-subtitle">
            <a:extLst xmlns:a="http://schemas.openxmlformats.org/drawingml/2006/main">
              <a:ext uri="{FF2B5EF4-FFF2-40B4-BE49-F238E27FC236}">
                <a16:creationId xmlns:a16="http://schemas.microsoft.com/office/drawing/2014/main" id="{06A2DF75-5230-4CEB-A142-385C45C1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Rebuild the failed rank from the freshest source for each state class.</a:t>
            </a:r>
          </a:p>
        </p:txBody>
      </p:sp>
      <p:sp>
        <p:nvSpPr>
          <p:cNvPr id="66" name="peer-source">
            <a:extLst xmlns:a="http://schemas.openxmlformats.org/drawingml/2006/main">
              <a:ext uri="{FF2B5EF4-FFF2-40B4-BE49-F238E27FC236}">
                <a16:creationId xmlns:a16="http://schemas.microsoft.com/office/drawing/2014/main" id="{40DA5B51-D780-4F33-BD00-B5244543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1571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D9B"/>
            </a:solidFill>
            <a:prstDash val="solid"/>
          </a:ln>
        </p:spPr>
      </p:sp>
      <p:sp>
        <p:nvSpPr>
          <p:cNvPr id="67" name="peer-title">
            <a:extLst xmlns:a="http://schemas.openxmlformats.org/drawingml/2006/main">
              <a:ext uri="{FF2B5EF4-FFF2-40B4-BE49-F238E27FC236}">
                <a16:creationId xmlns:a16="http://schemas.microsoft.com/office/drawing/2014/main" id="{81DC285E-6B61-4714-B5DA-4AA2694E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81225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Healthy DP peer</a:t>
            </a:r>
          </a:p>
        </p:txBody>
      </p:sp>
      <p:sp>
        <p:nvSpPr>
          <p:cNvPr id="68" name="peer-note">
            <a:extLst xmlns:a="http://schemas.openxmlformats.org/drawingml/2006/main">
              <a:ext uri="{FF2B5EF4-FFF2-40B4-BE49-F238E27FC236}">
                <a16:creationId xmlns:a16="http://schemas.microsoft.com/office/drawing/2014/main" id="{BD564EAB-972A-42A1-9EAF-8A48C533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dense/router at t</a:t>
            </a:r>
          </a:p>
        </p:txBody>
      </p:sp>
      <p:sp>
        <p:nvSpPr>
          <p:cNvPr id="69" name="path-p-tag">
            <a:extLst xmlns:a="http://schemas.openxmlformats.org/drawingml/2006/main">
              <a:ext uri="{FF2B5EF4-FFF2-40B4-BE49-F238E27FC236}">
                <a16:creationId xmlns:a16="http://schemas.microsoft.com/office/drawing/2014/main" id="{B0F0FF43-3978-4403-91E3-E33BAA73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15D9B"/>
            </a:solidFill>
            <a:prstDash val="solid"/>
          </a:ln>
        </p:spPr>
      </p:sp>
      <p:sp>
        <p:nvSpPr>
          <p:cNvPr id="70" name="path-p-tag-text">
            <a:extLst xmlns:a="http://schemas.openxmlformats.org/drawingml/2006/main">
              <a:ext uri="{FF2B5EF4-FFF2-40B4-BE49-F238E27FC236}">
                <a16:creationId xmlns:a16="http://schemas.microsoft.com/office/drawing/2014/main" id="{42ED0002-CB1C-48A7-B652-2FB820F8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Path P</a:t>
            </a:r>
          </a:p>
        </p:txBody>
      </p:sp>
      <p:sp>
        <p:nvSpPr>
          <p:cNvPr id="71" name="ckpt-source">
            <a:extLst xmlns:a="http://schemas.openxmlformats.org/drawingml/2006/main">
              <a:ext uri="{FF2B5EF4-FFF2-40B4-BE49-F238E27FC236}">
                <a16:creationId xmlns:a16="http://schemas.microsoft.com/office/drawing/2014/main" id="{C980657D-C887-4C05-8A91-8DBB04C3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1571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257A7"/>
            </a:solidFill>
            <a:prstDash val="solid"/>
          </a:ln>
        </p:spPr>
      </p:sp>
      <p:sp>
        <p:nvSpPr>
          <p:cNvPr id="72" name="ckpt-title">
            <a:extLst xmlns:a="http://schemas.openxmlformats.org/drawingml/2006/main">
              <a:ext uri="{FF2B5EF4-FFF2-40B4-BE49-F238E27FC236}">
                <a16:creationId xmlns:a16="http://schemas.microsoft.com/office/drawing/2014/main" id="{01D369D9-7D83-416D-A7C7-F942564D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76575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5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257A7"/>
                </a:solidFill>
                <a:latin typeface="Aptos"/>
                <a:ea typeface="Aptos"/>
                <a:cs typeface="Aptos"/>
              </a:rPr>
              <a:t>Checkpoint shard</a:t>
            </a:r>
          </a:p>
        </p:txBody>
      </p:sp>
      <p:sp>
        <p:nvSpPr>
          <p:cNvPr id="73" name="ckpt-note">
            <a:extLst xmlns:a="http://schemas.openxmlformats.org/drawingml/2006/main">
              <a:ext uri="{FF2B5EF4-FFF2-40B4-BE49-F238E27FC236}">
                <a16:creationId xmlns:a16="http://schemas.microsoft.com/office/drawing/2014/main" id="{454152E7-59B3-4BE9-9CBE-D6857906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experts at c</a:t>
            </a:r>
          </a:p>
        </p:txBody>
      </p:sp>
      <p:sp>
        <p:nvSpPr>
          <p:cNvPr id="74" name="path-c-tag">
            <a:extLst xmlns:a="http://schemas.openxmlformats.org/drawingml/2006/main">
              <a:ext uri="{FF2B5EF4-FFF2-40B4-BE49-F238E27FC236}">
                <a16:creationId xmlns:a16="http://schemas.microsoft.com/office/drawing/2014/main" id="{19ED61A9-46B1-4EF6-859C-DBB8FB1A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099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9525">
            <a:solidFill>
              <a:srgbClr val="7257A7"/>
            </a:solidFill>
            <a:prstDash val="solid"/>
          </a:ln>
        </p:spPr>
      </p:sp>
      <p:sp>
        <p:nvSpPr>
          <p:cNvPr id="75" name="path-c-tag-text">
            <a:extLst xmlns:a="http://schemas.openxmlformats.org/drawingml/2006/main">
              <a:ext uri="{FF2B5EF4-FFF2-40B4-BE49-F238E27FC236}">
                <a16:creationId xmlns:a16="http://schemas.microsoft.com/office/drawing/2014/main" id="{8792CFC6-BA08-48DC-9AB0-93E8175F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480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257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257A7"/>
                </a:solidFill>
                <a:latin typeface="Aptos"/>
                <a:ea typeface="Aptos"/>
                <a:cs typeface="Aptos"/>
              </a:rPr>
              <a:t>Path C</a:t>
            </a:r>
          </a:p>
        </p:txBody>
      </p:sp>
      <p:sp>
        <p:nvSpPr>
          <p:cNvPr id="76" name="peer-to-rank-line">
            <a:extLst xmlns:a="http://schemas.openxmlformats.org/drawingml/2006/main">
              <a:ext uri="{FF2B5EF4-FFF2-40B4-BE49-F238E27FC236}">
                <a16:creationId xmlns:a16="http://schemas.microsoft.com/office/drawing/2014/main" id="{69B15C79-47C4-4933-BDFC-198D7DE9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71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9B"/>
          </a:solidFill>
          <a:ln xmlns:a="http://schemas.openxmlformats.org/drawingml/2006/main" w="0">
            <a:solidFill>
              <a:srgbClr val="315D9B"/>
            </a:solidFill>
            <a:prstDash val="solid"/>
          </a:ln>
        </p:spPr>
      </p:sp>
      <p:sp>
        <p:nvSpPr>
          <p:cNvPr id="77" name="peer-to-rank-head">
            <a:extLst xmlns:a="http://schemas.openxmlformats.org/drawingml/2006/main">
              <a:ext uri="{FF2B5EF4-FFF2-40B4-BE49-F238E27FC236}">
                <a16:creationId xmlns:a16="http://schemas.microsoft.com/office/drawing/2014/main" id="{8347F284-6E61-4DB5-A2CE-67096D6B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8" name="ckpt-to-rank-line">
            <a:extLst xmlns:a="http://schemas.openxmlformats.org/drawingml/2006/main">
              <a:ext uri="{FF2B5EF4-FFF2-40B4-BE49-F238E27FC236}">
                <a16:creationId xmlns:a16="http://schemas.microsoft.com/office/drawing/2014/main" id="{A948FBDC-808E-4336-9F4E-4BB47410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6707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7A7"/>
          </a:solidFill>
          <a:ln xmlns:a="http://schemas.openxmlformats.org/drawingml/2006/main" w="0">
            <a:solidFill>
              <a:srgbClr val="7257A7"/>
            </a:solidFill>
            <a:prstDash val="solid"/>
          </a:ln>
        </p:spPr>
      </p:sp>
      <p:sp>
        <p:nvSpPr>
          <p:cNvPr id="79" name="ckpt-to-rank-head">
            <a:extLst xmlns:a="http://schemas.openxmlformats.org/drawingml/2006/main">
              <a:ext uri="{FF2B5EF4-FFF2-40B4-BE49-F238E27FC236}">
                <a16:creationId xmlns:a16="http://schemas.microsoft.com/office/drawing/2014/main" id="{9A374E44-B430-40FA-9B07-7A9F224D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257A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257A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0" name="replacement-rank">
            <a:extLst xmlns:a="http://schemas.openxmlformats.org/drawingml/2006/main">
              <a:ext uri="{FF2B5EF4-FFF2-40B4-BE49-F238E27FC236}">
                <a16:creationId xmlns:a16="http://schemas.microsoft.com/office/drawing/2014/main" id="{A057BE03-06AB-47F3-92FB-2BFBED17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1962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81" name="replacement-title">
            <a:extLst xmlns:a="http://schemas.openxmlformats.org/drawingml/2006/main">
              <a:ext uri="{FF2B5EF4-FFF2-40B4-BE49-F238E27FC236}">
                <a16:creationId xmlns:a16="http://schemas.microsoft.com/office/drawing/2014/main" id="{1BBD7E5C-0054-4646-8982-6EFE77E3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52675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Replacement rank</a:t>
            </a:r>
          </a:p>
        </p:txBody>
      </p:sp>
      <p:sp>
        <p:nvSpPr>
          <p:cNvPr id="82" name="replacement-fresh">
            <a:extLst xmlns:a="http://schemas.openxmlformats.org/drawingml/2006/main">
              <a:ext uri="{FF2B5EF4-FFF2-40B4-BE49-F238E27FC236}">
                <a16:creationId xmlns:a16="http://schemas.microsoft.com/office/drawing/2014/main" id="{E1CA14E1-3087-428B-8ECD-84F8A19C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765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D9B"/>
                </a:solidFill>
                <a:latin typeface="Aptos"/>
                <a:ea typeface="Aptos"/>
                <a:cs typeface="Aptos"/>
              </a:rPr>
              <a:t>fresh dense/router</a:t>
            </a:r>
          </a:p>
        </p:txBody>
      </p:sp>
      <p:sp>
        <p:nvSpPr>
          <p:cNvPr id="83" name="replacement-stale">
            <a:extLst xmlns:a="http://schemas.openxmlformats.org/drawingml/2006/main">
              <a:ext uri="{FF2B5EF4-FFF2-40B4-BE49-F238E27FC236}">
                <a16:creationId xmlns:a16="http://schemas.microsoft.com/office/drawing/2014/main" id="{8A07675F-D76B-4AF2-A6BB-1CDAECEF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86075"/>
            <a:ext cx="1476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57A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257A7"/>
                </a:solidFill>
                <a:latin typeface="Aptos"/>
                <a:ea typeface="Aptos"/>
                <a:cs typeface="Aptos"/>
              </a:rPr>
              <a:t>bounded expert staleness</a:t>
            </a:r>
          </a:p>
        </p:txBody>
      </p:sp>
      <p:sp>
        <p:nvSpPr>
          <p:cNvPr id="84" name="resume-t-tag">
            <a:extLst xmlns:a="http://schemas.openxmlformats.org/drawingml/2006/main">
              <a:ext uri="{FF2B5EF4-FFF2-40B4-BE49-F238E27FC236}">
                <a16:creationId xmlns:a16="http://schemas.microsoft.com/office/drawing/2014/main" id="{E0F0D0A4-41A5-4703-96CA-CC63CFE7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051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EF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85" name="resume-t-tag-text">
            <a:extLst xmlns:a="http://schemas.openxmlformats.org/drawingml/2006/main">
              <a:ext uri="{FF2B5EF4-FFF2-40B4-BE49-F238E27FC236}">
                <a16:creationId xmlns:a16="http://schemas.microsoft.com/office/drawing/2014/main" id="{C79B7C2F-AA2E-46D1-A79D-9A95775D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43250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resume at step t</a:t>
            </a:r>
          </a:p>
        </p:txBody>
      </p:sp>
      <p:sp>
        <p:nvSpPr>
          <p:cNvPr id="86" name="two-phase-rail">
            <a:extLst xmlns:a="http://schemas.openxmlformats.org/drawingml/2006/main">
              <a:ext uri="{FF2B5EF4-FFF2-40B4-BE49-F238E27FC236}">
                <a16:creationId xmlns:a16="http://schemas.microsoft.com/office/drawing/2014/main" id="{561931A5-2B8B-4B7F-B4EE-347B6AA8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87" name="weights-first">
            <a:extLst xmlns:a="http://schemas.openxmlformats.org/drawingml/2006/main">
              <a:ext uri="{FF2B5EF4-FFF2-40B4-BE49-F238E27FC236}">
                <a16:creationId xmlns:a16="http://schemas.microsoft.com/office/drawing/2014/main" id="{F198D991-0441-4E07-812C-B444E101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95725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weights first</a:t>
            </a:r>
          </a:p>
        </p:txBody>
      </p:sp>
      <p:sp>
        <p:nvSpPr>
          <p:cNvPr id="88" name="optimizer-later">
            <a:extLst xmlns:a="http://schemas.openxmlformats.org/drawingml/2006/main">
              <a:ext uri="{FF2B5EF4-FFF2-40B4-BE49-F238E27FC236}">
                <a16:creationId xmlns:a16="http://schemas.microsoft.com/office/drawing/2014/main" id="{6ED27361-C6A3-45D9-A8DF-B546A250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9572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optimizer later</a:t>
            </a:r>
          </a:p>
        </p:txBody>
      </p:sp>
      <p:sp>
        <p:nvSpPr>
          <p:cNvPr id="89" name="healthy-label">
            <a:extLst xmlns:a="http://schemas.openxmlformats.org/drawingml/2006/main">
              <a:ext uri="{FF2B5EF4-FFF2-40B4-BE49-F238E27FC236}">
                <a16:creationId xmlns:a16="http://schemas.microsoft.com/office/drawing/2014/main" id="{8C135E5C-EA5F-423F-A57B-924833C1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95725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HEALTHY</a:t>
            </a:r>
          </a:p>
        </p:txBody>
      </p:sp>
      <p:sp>
        <p:nvSpPr>
          <p:cNvPr id="90" name="phase-a-b-line">
            <a:extLst xmlns:a="http://schemas.openxmlformats.org/drawingml/2006/main">
              <a:ext uri="{FF2B5EF4-FFF2-40B4-BE49-F238E27FC236}">
                <a16:creationId xmlns:a16="http://schemas.microsoft.com/office/drawing/2014/main" id="{6E34139F-4A25-4F22-9587-8FC697E3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71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91" name="phase-a-b-head">
            <a:extLst xmlns:a="http://schemas.openxmlformats.org/drawingml/2006/main">
              <a:ext uri="{FF2B5EF4-FFF2-40B4-BE49-F238E27FC236}">
                <a16:creationId xmlns:a16="http://schemas.microsoft.com/office/drawing/2014/main" id="{5CA5602E-35D1-4E4C-9C1E-44F792A4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2" name="phase-b-healthy-line">
            <a:extLst xmlns:a="http://schemas.openxmlformats.org/drawingml/2006/main">
              <a:ext uri="{FF2B5EF4-FFF2-40B4-BE49-F238E27FC236}">
                <a16:creationId xmlns:a16="http://schemas.microsoft.com/office/drawing/2014/main" id="{5A3387FD-44F9-401F-AA1F-45E11A67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528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93" name="phase-b-healthy-head">
            <a:extLst xmlns:a="http://schemas.openxmlformats.org/drawingml/2006/main">
              <a:ext uri="{FF2B5EF4-FFF2-40B4-BE49-F238E27FC236}">
                <a16:creationId xmlns:a16="http://schemas.microsoft.com/office/drawing/2014/main" id="{61A8F754-8DD0-434E-B4B1-74CA6482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4810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4" name="restart-panel">
            <a:extLst xmlns:a="http://schemas.openxmlformats.org/drawingml/2006/main">
              <a:ext uri="{FF2B5EF4-FFF2-40B4-BE49-F238E27FC236}">
                <a16:creationId xmlns:a16="http://schemas.microsoft.com/office/drawing/2014/main" id="{10C69CCF-D5D9-476B-9F6B-59B90548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5391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B"/>
          </a:solidFill>
          <a:ln xmlns:a="http://schemas.openxmlformats.org/drawingml/2006/main" w="9525">
            <a:solidFill>
              <a:srgbClr val="B34B3D"/>
            </a:solidFill>
            <a:prstDash val="solid"/>
          </a:ln>
        </p:spPr>
      </p:sp>
      <p:sp>
        <p:nvSpPr>
          <p:cNvPr id="95" name="restart-title">
            <a:extLst xmlns:a="http://schemas.openxmlformats.org/drawingml/2006/main">
              <a:ext uri="{FF2B5EF4-FFF2-40B4-BE49-F238E27FC236}">
                <a16:creationId xmlns:a16="http://schemas.microsoft.com/office/drawing/2014/main" id="{EB006DD6-68B7-41EB-8A61-16ACFB2C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863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4B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34B3D"/>
                </a:solidFill>
                <a:latin typeface="Aptos"/>
                <a:ea typeface="Aptos"/>
                <a:cs typeface="Aptos"/>
              </a:rPr>
              <a:t>Restart fallback</a:t>
            </a:r>
          </a:p>
        </p:txBody>
      </p:sp>
      <p:sp>
        <p:nvSpPr>
          <p:cNvPr id="96" name="restart-condition">
            <a:extLst xmlns:a="http://schemas.openxmlformats.org/drawingml/2006/main">
              <a:ext uri="{FF2B5EF4-FFF2-40B4-BE49-F238E27FC236}">
                <a16:creationId xmlns:a16="http://schemas.microsoft.com/office/drawing/2014/main" id="{DAB642B6-3A99-45CA-919D-3E1B281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149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if any contract guard fails</a:t>
            </a:r>
          </a:p>
        </p:txBody>
      </p:sp>
      <p:sp>
        <p:nvSpPr>
          <p:cNvPr id="97" name="restart-ckpt">
            <a:extLst xmlns:a="http://schemas.openxmlformats.org/drawingml/2006/main">
              <a:ext uri="{FF2B5EF4-FFF2-40B4-BE49-F238E27FC236}">
                <a16:creationId xmlns:a16="http://schemas.microsoft.com/office/drawing/2014/main" id="{15796E24-C79A-435F-9BFC-8AC2C494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95825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257A7"/>
            </a:solidFill>
            <a:prstDash val="solid"/>
          </a:ln>
        </p:spPr>
      </p:sp>
      <p:sp>
        <p:nvSpPr>
          <p:cNvPr id="98" name="restart-ckpt-label">
            <a:extLst xmlns:a="http://schemas.openxmlformats.org/drawingml/2006/main">
              <a:ext uri="{FF2B5EF4-FFF2-40B4-BE49-F238E27FC236}">
                <a16:creationId xmlns:a16="http://schemas.microsoft.com/office/drawing/2014/main" id="{FBBF70E6-A716-42FA-AFFE-448B839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910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257A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257A7"/>
                </a:solidFill>
                <a:latin typeface="Aptos"/>
                <a:ea typeface="Aptos"/>
                <a:cs typeface="Aptos"/>
              </a:rPr>
              <a:t>CKPT c</a:t>
            </a:r>
          </a:p>
        </p:txBody>
      </p:sp>
      <p:sp>
        <p:nvSpPr>
          <p:cNvPr id="99" name="restart-arrow-1-line">
            <a:extLst xmlns:a="http://schemas.openxmlformats.org/drawingml/2006/main">
              <a:ext uri="{FF2B5EF4-FFF2-40B4-BE49-F238E27FC236}">
                <a16:creationId xmlns:a16="http://schemas.microsoft.com/office/drawing/2014/main" id="{AA7F64AC-B733-4875-96BC-5987B328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8482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3D"/>
          </a:solidFill>
          <a:ln xmlns:a="http://schemas.openxmlformats.org/drawingml/2006/main" w="0">
            <a:solidFill>
              <a:srgbClr val="B34B3D"/>
            </a:solidFill>
            <a:prstDash val="solid"/>
          </a:ln>
        </p:spPr>
      </p:sp>
      <p:sp>
        <p:nvSpPr>
          <p:cNvPr id="100" name="restart-arrow-1-head">
            <a:extLst xmlns:a="http://schemas.openxmlformats.org/drawingml/2006/main">
              <a:ext uri="{FF2B5EF4-FFF2-40B4-BE49-F238E27FC236}">
                <a16:creationId xmlns:a16="http://schemas.microsoft.com/office/drawing/2014/main" id="{E86EF1AF-07B0-4143-914D-E3850819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34B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34B3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1" name="restart-replay">
            <a:extLst xmlns:a="http://schemas.openxmlformats.org/drawingml/2006/main">
              <a:ext uri="{FF2B5EF4-FFF2-40B4-BE49-F238E27FC236}">
                <a16:creationId xmlns:a16="http://schemas.microsoft.com/office/drawing/2014/main" id="{37D16AF7-5E77-4E92-BC93-D89BDAB1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95825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4B3D"/>
            </a:solidFill>
            <a:prstDash val="solid"/>
          </a:ln>
        </p:spPr>
      </p:sp>
      <p:sp>
        <p:nvSpPr>
          <p:cNvPr id="102" name="restart-replay-label">
            <a:extLst xmlns:a="http://schemas.openxmlformats.org/drawingml/2006/main">
              <a:ext uri="{FF2B5EF4-FFF2-40B4-BE49-F238E27FC236}">
                <a16:creationId xmlns:a16="http://schemas.microsoft.com/office/drawing/2014/main" id="{B4EDCC39-EF69-4F14-8498-C65399BF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9107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34B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34B3D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103" name="restart-arrow-2-line">
            <a:extLst xmlns:a="http://schemas.openxmlformats.org/drawingml/2006/main">
              <a:ext uri="{FF2B5EF4-FFF2-40B4-BE49-F238E27FC236}">
                <a16:creationId xmlns:a16="http://schemas.microsoft.com/office/drawing/2014/main" id="{64D37739-5A55-4401-8560-752C6C3D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84822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3D"/>
          </a:solidFill>
          <a:ln xmlns:a="http://schemas.openxmlformats.org/drawingml/2006/main" w="0">
            <a:solidFill>
              <a:srgbClr val="B34B3D"/>
            </a:solidFill>
            <a:prstDash val="solid"/>
          </a:ln>
        </p:spPr>
      </p:sp>
      <p:sp>
        <p:nvSpPr>
          <p:cNvPr id="104" name="restart-arrow-2-head">
            <a:extLst xmlns:a="http://schemas.openxmlformats.org/drawingml/2006/main">
              <a:ext uri="{FF2B5EF4-FFF2-40B4-BE49-F238E27FC236}">
                <a16:creationId xmlns:a16="http://schemas.microsoft.com/office/drawing/2014/main" id="{F68F3654-A8F0-4ABA-9293-DFD1A6A1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7434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34B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34B3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5" name="restart-resume-label">
            <a:extLst xmlns:a="http://schemas.openxmlformats.org/drawingml/2006/main">
              <a:ext uri="{FF2B5EF4-FFF2-40B4-BE49-F238E27FC236}">
                <a16:creationId xmlns:a16="http://schemas.microsoft.com/office/drawing/2014/main" id="{6FF2F150-76AA-456F-A3DF-9B642948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762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B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B3D"/>
                </a:solidFill>
                <a:latin typeface="Aptos"/>
                <a:ea typeface="Aptos"/>
                <a:cs typeface="Aptos"/>
              </a:rPr>
              <a:t>resume</a:t>
            </a:r>
          </a:p>
        </p:txBody>
      </p:sp>
      <p:sp>
        <p:nvSpPr>
          <p:cNvPr id="106" name="metric-less latency">
            <a:extLst xmlns:a="http://schemas.openxmlformats.org/drawingml/2006/main">
              <a:ext uri="{FF2B5EF4-FFF2-40B4-BE49-F238E27FC236}">
                <a16:creationId xmlns:a16="http://schemas.microsoft.com/office/drawing/2014/main" id="{3904BC33-E0D5-4EB4-B9BA-148E72C8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255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07" name="metric-less latency-value">
            <a:extLst xmlns:a="http://schemas.openxmlformats.org/drawingml/2006/main">
              <a:ext uri="{FF2B5EF4-FFF2-40B4-BE49-F238E27FC236}">
                <a16:creationId xmlns:a16="http://schemas.microsoft.com/office/drawing/2014/main" id="{4DE133B8-9628-45C6-9073-E6C77F32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20.6-55.0%</a:t>
            </a:r>
          </a:p>
        </p:txBody>
      </p:sp>
      <p:sp>
        <p:nvSpPr>
          <p:cNvPr id="108" name="metric-less latency-label">
            <a:extLst xmlns:a="http://schemas.openxmlformats.org/drawingml/2006/main">
              <a:ext uri="{FF2B5EF4-FFF2-40B4-BE49-F238E27FC236}">
                <a16:creationId xmlns:a16="http://schemas.microsoft.com/office/drawing/2014/main" id="{1450AA81-0D9B-408D-AEB1-CFF56C20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43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B"/>
                </a:solidFill>
                <a:latin typeface="Aptos"/>
                <a:ea typeface="Aptos"/>
                <a:cs typeface="Aptos"/>
              </a:rPr>
              <a:t>less latency</a:t>
            </a:r>
          </a:p>
        </p:txBody>
      </p:sp>
      <p:sp>
        <p:nvSpPr>
          <p:cNvPr id="109" name="metric-less latency-note">
            <a:extLst xmlns:a="http://schemas.openxmlformats.org/drawingml/2006/main">
              <a:ext uri="{FF2B5EF4-FFF2-40B4-BE49-F238E27FC236}">
                <a16:creationId xmlns:a16="http://schemas.microsoft.com/office/drawing/2014/main" id="{C03D4495-5182-4718-910E-672D5D06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531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raw recovery across two MoE models</a:t>
            </a:r>
          </a:p>
        </p:txBody>
      </p:sp>
      <p:sp>
        <p:nvSpPr>
          <p:cNvPr id="110" name="metric-replay steps">
            <a:extLst xmlns:a="http://schemas.openxmlformats.org/drawingml/2006/main">
              <a:ext uri="{FF2B5EF4-FFF2-40B4-BE49-F238E27FC236}">
                <a16:creationId xmlns:a16="http://schemas.microsoft.com/office/drawing/2014/main" id="{4C20E54C-02EB-46A3-89FC-29EE5B81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29250"/>
            <a:ext cx="255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11" name="metric-replay steps-value">
            <a:extLst xmlns:a="http://schemas.openxmlformats.org/drawingml/2006/main">
              <a:ext uri="{FF2B5EF4-FFF2-40B4-BE49-F238E27FC236}">
                <a16:creationId xmlns:a16="http://schemas.microsoft.com/office/drawing/2014/main" id="{5AB76453-0A5C-46FB-8C51-410D4B69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626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2" name="metric-replay steps-label">
            <a:extLst xmlns:a="http://schemas.openxmlformats.org/drawingml/2006/main">
              <a:ext uri="{FF2B5EF4-FFF2-40B4-BE49-F238E27FC236}">
                <a16:creationId xmlns:a16="http://schemas.microsoft.com/office/drawing/2014/main" id="{01216AA0-917D-4883-B799-87ECC4BA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43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B"/>
                </a:solidFill>
                <a:latin typeface="Aptos"/>
                <a:ea typeface="Aptos"/>
                <a:cs typeface="Aptos"/>
              </a:rPr>
              <a:t>replay steps</a:t>
            </a:r>
          </a:p>
        </p:txBody>
      </p:sp>
      <p:sp>
        <p:nvSpPr>
          <p:cNvPr id="113" name="metric-replay steps-note">
            <a:extLst xmlns:a="http://schemas.openxmlformats.org/drawingml/2006/main">
              <a:ext uri="{FF2B5EF4-FFF2-40B4-BE49-F238E27FC236}">
                <a16:creationId xmlns:a16="http://schemas.microsoft.com/office/drawing/2014/main" id="{FFD548DC-A92C-4872-BF1F-C216BD5F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hybrid resumes directly at step t</a:t>
            </a:r>
          </a:p>
        </p:txBody>
      </p:sp>
      <p:sp>
        <p:nvSpPr>
          <p:cNvPr id="114" name="metric-quality guard">
            <a:extLst xmlns:a="http://schemas.openxmlformats.org/drawingml/2006/main">
              <a:ext uri="{FF2B5EF4-FFF2-40B4-BE49-F238E27FC236}">
                <a16:creationId xmlns:a16="http://schemas.microsoft.com/office/drawing/2014/main" id="{7C8FAC58-F37E-4295-B791-BD2D5BE3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255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15" name="metric-quality guard-value">
            <a:extLst xmlns:a="http://schemas.openxmlformats.org/drawingml/2006/main">
              <a:ext uri="{FF2B5EF4-FFF2-40B4-BE49-F238E27FC236}">
                <a16:creationId xmlns:a16="http://schemas.microsoft.com/office/drawing/2014/main" id="{FEE91BA3-D182-4DE2-9543-F78CF0B0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D9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5D9B"/>
                </a:solidFill>
                <a:latin typeface="Aptos"/>
                <a:ea typeface="Aptos"/>
                <a:cs typeface="Aptos"/>
              </a:rPr>
              <a:t>1e-2</a:t>
            </a:r>
          </a:p>
        </p:txBody>
      </p:sp>
      <p:sp>
        <p:nvSpPr>
          <p:cNvPr id="116" name="metric-quality guard-label">
            <a:extLst xmlns:a="http://schemas.openxmlformats.org/drawingml/2006/main">
              <a:ext uri="{FF2B5EF4-FFF2-40B4-BE49-F238E27FC236}">
                <a16:creationId xmlns:a16="http://schemas.microsoft.com/office/drawing/2014/main" id="{EE6CD3CE-302C-4287-AE49-14BBD855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43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B"/>
                </a:solidFill>
                <a:latin typeface="Aptos"/>
                <a:ea typeface="Aptos"/>
                <a:cs typeface="Aptos"/>
              </a:rPr>
              <a:t>quality guard</a:t>
            </a:r>
          </a:p>
        </p:txBody>
      </p:sp>
      <p:sp>
        <p:nvSpPr>
          <p:cNvPr id="117" name="metric-quality guard-note">
            <a:extLst xmlns:a="http://schemas.openxmlformats.org/drawingml/2006/main">
              <a:ext uri="{FF2B5EF4-FFF2-40B4-BE49-F238E27FC236}">
                <a16:creationId xmlns:a16="http://schemas.microsoft.com/office/drawing/2014/main" id="{1BA5643B-D0CF-41F1-B434-1F6C22D3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7531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empirical cliff for Phi_prime(t)</a:t>
            </a:r>
          </a:p>
        </p:txBody>
      </p:sp>
      <p:sp>
        <p:nvSpPr>
          <p:cNvPr id="118" name="metric-audit trail">
            <a:extLst xmlns:a="http://schemas.openxmlformats.org/drawingml/2006/main">
              <a:ext uri="{FF2B5EF4-FFF2-40B4-BE49-F238E27FC236}">
                <a16:creationId xmlns:a16="http://schemas.microsoft.com/office/drawing/2014/main" id="{20393123-B54F-4AD5-8F1D-DC497D76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29250"/>
            <a:ext cx="255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19" name="metric-audit trail-value">
            <a:extLst xmlns:a="http://schemas.openxmlformats.org/drawingml/2006/main">
              <a:ext uri="{FF2B5EF4-FFF2-40B4-BE49-F238E27FC236}">
                <a16:creationId xmlns:a16="http://schemas.microsoft.com/office/drawing/2014/main" id="{B67F31CD-9526-4349-9087-8FABF5B6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626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82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8224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120" name="metric-audit trail-label">
            <a:extLst xmlns:a="http://schemas.openxmlformats.org/drawingml/2006/main">
              <a:ext uri="{FF2B5EF4-FFF2-40B4-BE49-F238E27FC236}">
                <a16:creationId xmlns:a16="http://schemas.microsoft.com/office/drawing/2014/main" id="{B0EB984B-6629-4380-A2BB-A5ED846D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543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B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121" name="metric-audit trail-note">
            <a:extLst xmlns:a="http://schemas.openxmlformats.org/drawingml/2006/main">
              <a:ext uri="{FF2B5EF4-FFF2-40B4-BE49-F238E27FC236}">
                <a16:creationId xmlns:a16="http://schemas.microsoft.com/office/drawing/2014/main" id="{949CA5E8-9FCE-4C38-8793-7F7918A9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7531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policy inputs + state transitions</a:t>
            </a:r>
          </a:p>
        </p:txBody>
      </p:sp>
      <p:sp>
        <p:nvSpPr>
          <p:cNvPr id="122" name="figure-note">
            <a:extLst xmlns:a="http://schemas.openxmlformats.org/drawingml/2006/main">
              <a:ext uri="{FF2B5EF4-FFF2-40B4-BE49-F238E27FC236}">
                <a16:creationId xmlns:a16="http://schemas.microsoft.com/office/drawing/2014/main" id="{DA0FF269-309E-4543-9E26-840B88B8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Figure intent: contract answers when the fast path is safe; mechanism answers how each state class is rebuilt.</a:t>
            </a:r>
          </a:p>
        </p:txBody>
      </p:sp>
      <p:sp>
        <p:nvSpPr>
          <p:cNvPr id="12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01422F7-1985-416D-9098-A8DF868D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MoEGambit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40899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2026-06-04T13:19:26.1640000Z</dcterms:created>
  <dcterms:modified xsi:type="dcterms:W3CDTF">2026-06-04T13:19:26.1640000Z</dcterms:modified>
</coreProperties>
</file>